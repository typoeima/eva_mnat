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Контейнеризация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 Kubernetes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Архитектура, безопасность, практика и подготовка к собеседованиям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  |  2 часа  |  Sirius K8s Course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34747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Программа лекции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solidFill>
            <a:srgbClr val="1A2D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контейнеров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0" y="1005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мин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43891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8132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4813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Kubernetes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0" y="14813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мин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8229600" cy="438912"/>
          </a:xfrm>
          <a:prstGeom prst="rect">
            <a:avLst/>
          </a:prstGeom>
          <a:solidFill>
            <a:srgbClr val="1A2D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5681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195681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Kubernetes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мин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32304"/>
            <a:ext cx="8229600" cy="43891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323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432304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на собеседованиях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24323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мин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8229600" cy="438912"/>
          </a:xfrm>
          <a:prstGeom prst="rect">
            <a:avLst/>
          </a:prstGeom>
          <a:solidFill>
            <a:srgbClr val="1A2D4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0779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290779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проблемы в production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29077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мин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43891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8328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3832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контейнеров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0" y="3383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мин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58768"/>
            <a:ext cx="8229600" cy="438912"/>
          </a:xfrm>
          <a:prstGeom prst="rect">
            <a:avLst/>
          </a:prstGeom>
          <a:solidFill>
            <a:srgbClr val="1A2D4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858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385876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Сертификаты, PKI и шифрование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32320" y="38587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мин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334256"/>
            <a:ext cx="8229600" cy="43891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33425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8720" y="433425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— обзор и финальная инфраструктура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32320" y="43342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мин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01. Архитектура контейнеров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cgroups, namespaces, chroot и как это всё работает вместе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Linux-примитивы: основа контейнеризации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chroot (1979) — изоляция файловой системы. Создаёт виртуальный корень для процесса.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 (2002-2013) — изоляция ресурсов ядра: PID, NET, MNT, UTS, IPC, USER, cgroup.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cgroups v1/v2 (2008) — ограничение и учёт ресурсов: CPU, RAM, I/O, кол-во процессов.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seccomp-bpf — фильтрация системных вызовов. Docker по умолчанию блокирует ~44 syscall.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AppArmor / SELinux — MAC (Mandatory Access Control) для ограничения доступа процессов.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Контейнер = chroot + namespaces + cgroups + seccomp + LSM. Это НЕ виртуальная машина.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Важно: контейнер использует ядро хоста. Это и преимущество (скорость), и уязвимость (shared kernel).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Linux Namespaces — 7 типов изоляции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Изолирует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Флаг clone()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Дерево процессов (PID 1 внутри)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CLONE_NEWPID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Сетевые интерфейсы, IP, маршруты, iptables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CLONE_NEWNET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Точки монтирования (файловая система)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CLONE_NEWNS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Hostname и domainname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CLONE_NEWUTS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Межпроцессное взаимодействие (shm, msg)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CLONE_NEWIPC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UID/GID маппинг (rootless контейнеры)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CLONE_NEWUSER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Видимость cgroup-дерева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CLONE_NEWCGROUP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Контейнеры vs Виртуальные машины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A2D4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Контейнер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ядро хоста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за миллисекунды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образа: 5-500 MB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Плотность: сотни на хост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Overhead: минимальный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Изоляция: уровень процесса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A2D4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Виртуальная машина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Собственное ядро + гипервизор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за десятки секунд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Размер: 1-50 GB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Плотность: единицы-десятки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Overhead: ~5-15% CPU/RAM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Изоляция: аппаратная (кольца CPU)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Схема: Как работает контейнер на Linux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92608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2487168" cy="868680"/>
          </a:xfrm>
          <a:prstGeom prst="rect">
            <a:avLst/>
          </a:prstGeom>
          <a:solidFill>
            <a:srgbClr val="1A2D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777240"/>
            <a:ext cx="2487168" cy="21945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772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332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nginx:1.25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PID·NET·MNT ns  |  cgroup slice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28416" y="777240"/>
            <a:ext cx="2487168" cy="868680"/>
          </a:xfrm>
          <a:prstGeom prst="rect">
            <a:avLst/>
          </a:prstGeom>
          <a:solidFill>
            <a:srgbClr val="1A2D4A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28416" y="777240"/>
            <a:ext cx="2487168" cy="21945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7772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28416" y="10332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app:v2.1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8416" y="12801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14447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PID·NET·MNT ns  |  cgroup slice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99632" y="777240"/>
            <a:ext cx="2487168" cy="868680"/>
          </a:xfrm>
          <a:prstGeom prst="rect">
            <a:avLst/>
          </a:prstGeom>
          <a:solidFill>
            <a:srgbClr val="1A2D4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777240"/>
            <a:ext cx="2487168" cy="21945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7772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9632" y="103327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postgres:15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99632" y="128016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14447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PID·NET·MNT ns  |  cgroup slice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26280" y="1682496"/>
            <a:ext cx="0" cy="164592"/>
          </a:xfrm>
          <a:prstGeom prst="line">
            <a:avLst/>
          </a:prstGeom>
          <a:noFill/>
          <a:ln w="19050">
            <a:solidFill>
              <a:srgbClr val="6B8FAD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57200" y="1883664"/>
            <a:ext cx="8229600" cy="493776"/>
          </a:xfrm>
          <a:prstGeom prst="rect">
            <a:avLst/>
          </a:prstGeom>
          <a:solidFill>
            <a:srgbClr val="0C3A6A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188366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  →  runc  (OCI Runtime)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1883664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вызывает  clone()  exec()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 cgroups/namespaces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2414016"/>
            <a:ext cx="0" cy="164592"/>
          </a:xfrm>
          <a:prstGeom prst="line">
            <a:avLst/>
          </a:prstGeom>
          <a:noFill/>
          <a:ln w="19050">
            <a:solidFill>
              <a:srgbClr val="6B8FAD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57200" y="2615184"/>
            <a:ext cx="2468880" cy="621792"/>
          </a:xfrm>
          <a:prstGeom prst="rect">
            <a:avLst/>
          </a:prstGeom>
          <a:solidFill>
            <a:srgbClr val="0E4D7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660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" y="291693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  NET  MNT  UTS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 USER  cgroup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37560" y="2615184"/>
            <a:ext cx="2468880" cy="621792"/>
          </a:xfrm>
          <a:prstGeom prst="rect">
            <a:avLst/>
          </a:prstGeom>
          <a:solidFill>
            <a:srgbClr val="0D5C47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660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cgroups v2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10712" y="291693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 Memory  I/O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pids (process limit)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2615184"/>
            <a:ext cx="2468880" cy="621792"/>
          </a:xfrm>
          <a:prstGeom prst="rect">
            <a:avLst/>
          </a:prstGeom>
          <a:solidFill>
            <a:srgbClr val="5C3A0E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660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seccomp + LSM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91072" y="291693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AppArmor / SELinux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~44 syscalls blocked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26280" y="3273552"/>
            <a:ext cx="0" cy="164592"/>
          </a:xfrm>
          <a:prstGeom prst="line">
            <a:avLst/>
          </a:prstGeom>
          <a:noFill/>
          <a:ln w="19050">
            <a:solidFill>
              <a:srgbClr val="6B8FAD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122240"/>
          </a:solidFill>
          <a:ln w="25400">
            <a:solidFill>
              <a:srgbClr val="3A5F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C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Linux Kernel — ОБЩЕЕ ядро для всех контейнеров на хосте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526280" y="3968496"/>
            <a:ext cx="0" cy="137160"/>
          </a:xfrm>
          <a:prstGeom prst="line">
            <a:avLst/>
          </a:prstGeom>
          <a:noFill/>
          <a:ln w="19050">
            <a:solidFill>
              <a:srgbClr val="6B8FAD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457200" y="4133088"/>
            <a:ext cx="8229600" cy="347472"/>
          </a:xfrm>
          <a:prstGeom prst="rect">
            <a:avLst/>
          </a:prstGeom>
          <a:solidFill>
            <a:srgbClr val="0A0A1A"/>
          </a:solidFill>
          <a:ln w="12700">
            <a:solidFill>
              <a:srgbClr val="30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1330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/ Physical Server  (или VM — тогда добавляется слой гипервизора)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Docker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Client (CLI) — отправляет команды через REST API в Docker Daemon.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Daemon (dockerd) — управляет образами, контейнерами, сетями, volumes.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 — CRI-совместимый runtime. Управляет жизненным циклом контейнера.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runc — OCI-совместимый runtime. Непосредственно вызывает clone(), namespaces, cgroups.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Registry — хранилище образов (Docker Hub, Harbor, GitLab Registry, ECR/GCR).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 (layers) — каждая инструкция Dockerfile создаёт read-only слой. Union FS объединяет их.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Альтернативы: Podman (daemonless), Buildah (только сборка), CRI-O (для Kubernetes).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02. Архитектура Kubernetes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Plane, Worker Nodes и механизмы управления состоянием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Компоненты Kubernetes кластера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A2D4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(Master)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kube-apiserver — единая точка входа. REST API + RBAC + Admission Controllers.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— распределённый KV-store (Raft). Единственный stateful компонент.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kube-scheduler — выбор ноды для пода (affinity, taints, resources).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kube-controller-manager — набор контроллеров (Deployment, ReplicaSet, Node, Job).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cloud-controller-manager — интеграция с облаком (LB, storage).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A2D4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— агент на каждой ноде. Следит за подами, отчитывается API-серверу.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 — сетевые правила (iptables/IPVS). Service → Pod маршрутизация.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Runtime — containerd / CRI-O. Запуск контейнеров через CRI.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 — DNS-резолвинг внутри кластера (service.namespace.svc.cluster.local).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 плагин — сетевая связность между подами (Calico, Flannel, Cilium).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Схема: Архитектура Kubernetes кластера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32004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777240"/>
            <a:ext cx="3977640" cy="4160520"/>
          </a:xfrm>
          <a:prstGeom prst="rect">
            <a:avLst/>
          </a:prstGeom>
          <a:solidFill>
            <a:srgbClr val="122240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77240"/>
            <a:ext cx="397764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777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(Master Node)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" y="1161288"/>
            <a:ext cx="3703320" cy="658368"/>
          </a:xfrm>
          <a:prstGeom prst="rect">
            <a:avLst/>
          </a:prstGeom>
          <a:solidFill>
            <a:srgbClr val="0C3560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" y="1207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kube-apiserver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" y="152704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 ·  RBAC Auth  ·  Admission Controllers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" y="1947672"/>
            <a:ext cx="3703320" cy="548640"/>
          </a:xfrm>
          <a:prstGeom prst="rect">
            <a:avLst/>
          </a:prstGeom>
          <a:solidFill>
            <a:srgbClr val="0A353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9842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" y="224028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KV (Raft)  ·  Хранит ВСЁ состояние кластера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" y="2624328"/>
            <a:ext cx="1783080" cy="530352"/>
          </a:xfrm>
          <a:prstGeom prst="rect">
            <a:avLst/>
          </a:prstGeom>
          <a:solidFill>
            <a:srgbClr val="2A1A4A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6609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kube-scheduler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2898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Выбирает ноду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подов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58568" y="2624328"/>
            <a:ext cx="1783080" cy="530352"/>
          </a:xfrm>
          <a:prstGeom prst="rect">
            <a:avLst/>
          </a:prstGeom>
          <a:solidFill>
            <a:srgbClr val="2A1A4A"/>
          </a:solidFill>
          <a:ln w="1016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26609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controller-mgr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58568" y="2898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(30+ ctrl)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" y="3264408"/>
            <a:ext cx="3703320" cy="384048"/>
          </a:xfrm>
          <a:prstGeom prst="rect">
            <a:avLst/>
          </a:prstGeom>
          <a:solidFill>
            <a:srgbClr val="1A2A3A"/>
          </a:solidFill>
          <a:ln w="6350">
            <a:solidFill>
              <a:srgbClr val="6B8F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2644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cloud-controller-manager  (LB · Storage · Node lifecycle)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" y="3758184"/>
            <a:ext cx="3703320" cy="384048"/>
          </a:xfrm>
          <a:prstGeom prst="rect">
            <a:avLst/>
          </a:prstGeom>
          <a:solidFill>
            <a:srgbClr val="0A2A3A"/>
          </a:solidFill>
          <a:ln w="635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75818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CoreDNS  (service.namespace.svc.cluster.local)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51960" y="1417320"/>
            <a:ext cx="7772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251960" y="1600200"/>
            <a:ext cx="7772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headEnd type="arrow"/>
          </a:ln>
        </p:spPr>
      </p:sp>
      <p:sp>
        <p:nvSpPr>
          <p:cNvPr id="26" name="Text 24"/>
          <p:cNvSpPr/>
          <p:nvPr/>
        </p:nvSpPr>
        <p:spPr>
          <a:xfrm>
            <a:off x="4270248" y="1280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+CRUD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51960" y="3429000"/>
            <a:ext cx="7772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251960" y="3611880"/>
            <a:ext cx="7772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headEnd type="arrow"/>
          </a:ln>
        </p:spPr>
      </p:sp>
      <p:sp>
        <p:nvSpPr>
          <p:cNvPr id="29" name="Shape 27"/>
          <p:cNvSpPr/>
          <p:nvPr/>
        </p:nvSpPr>
        <p:spPr>
          <a:xfrm>
            <a:off x="5029200" y="777240"/>
            <a:ext cx="3886200" cy="1920240"/>
          </a:xfrm>
          <a:prstGeom prst="rect">
            <a:avLst/>
          </a:prstGeom>
          <a:solidFill>
            <a:srgbClr val="122240"/>
          </a:solidFill>
          <a:ln w="15240">
            <a:solidFill>
              <a:srgbClr val="3A6E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777240"/>
            <a:ext cx="3886200" cy="256032"/>
          </a:xfrm>
          <a:prstGeom prst="rect">
            <a:avLst/>
          </a:prstGeom>
          <a:solidFill>
            <a:srgbClr val="3A6EA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777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1106424"/>
            <a:ext cx="1783080" cy="457200"/>
          </a:xfrm>
          <a:prstGeom prst="rect">
            <a:avLst/>
          </a:prstGeom>
          <a:solidFill>
            <a:srgbClr val="1A3550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11338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13533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lifecycle mgr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40880" y="1106424"/>
            <a:ext cx="1783080" cy="457200"/>
          </a:xfrm>
          <a:prstGeom prst="rect">
            <a:avLst/>
          </a:prstGeom>
          <a:solidFill>
            <a:srgbClr val="1A3550"/>
          </a:solidFill>
          <a:ln w="10160">
            <a:solidFill>
              <a:srgbClr val="B8D4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11338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40880" y="135331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iptables / IPVS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120640" y="1655064"/>
            <a:ext cx="3703320" cy="329184"/>
          </a:xfrm>
          <a:prstGeom prst="rect">
            <a:avLst/>
          </a:prstGeom>
          <a:solidFill>
            <a:srgbClr val="0C2A1A"/>
          </a:solidFill>
          <a:ln w="762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165506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 (CRI)  →  runc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20640" y="2057400"/>
            <a:ext cx="749808" cy="329184"/>
          </a:xfrm>
          <a:prstGeom prst="rect">
            <a:avLst/>
          </a:prstGeom>
          <a:solidFill>
            <a:srgbClr val="1A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20574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61888" y="2057400"/>
            <a:ext cx="749808" cy="329184"/>
          </a:xfrm>
          <a:prstGeom prst="rect">
            <a:avLst/>
          </a:prstGeom>
          <a:solidFill>
            <a:srgbClr val="1A2D4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61888" y="20574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03136" y="2057400"/>
            <a:ext cx="749808" cy="329184"/>
          </a:xfrm>
          <a:prstGeom prst="rect">
            <a:avLst/>
          </a:prstGeom>
          <a:solidFill>
            <a:srgbClr val="1A2D4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3136" y="20574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0" y="2926080"/>
            <a:ext cx="3886200" cy="1920240"/>
          </a:xfrm>
          <a:prstGeom prst="rect">
            <a:avLst/>
          </a:prstGeom>
          <a:solidFill>
            <a:srgbClr val="122240"/>
          </a:solidFill>
          <a:ln w="15240">
            <a:solidFill>
              <a:srgbClr val="2A507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29200" y="2926080"/>
            <a:ext cx="3886200" cy="256032"/>
          </a:xfrm>
          <a:prstGeom prst="rect">
            <a:avLst/>
          </a:prstGeom>
          <a:solidFill>
            <a:srgbClr val="2A5078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0" y="2926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 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120640" y="3255264"/>
            <a:ext cx="1783080" cy="457200"/>
          </a:xfrm>
          <a:prstGeom prst="rect">
            <a:avLst/>
          </a:prstGeom>
          <a:solidFill>
            <a:srgbClr val="1A3550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2826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120640" y="350215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lifecycle mgr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040880" y="3255264"/>
            <a:ext cx="1783080" cy="457200"/>
          </a:xfrm>
          <a:prstGeom prst="rect">
            <a:avLst/>
          </a:prstGeom>
          <a:solidFill>
            <a:srgbClr val="1A3550"/>
          </a:solidFill>
          <a:ln w="10160">
            <a:solidFill>
              <a:srgbClr val="B8D4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328269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040880" y="350215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iptables / IPVS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120640" y="3803904"/>
            <a:ext cx="3703320" cy="329184"/>
          </a:xfrm>
          <a:prstGeom prst="rect">
            <a:avLst/>
          </a:prstGeom>
          <a:solidFill>
            <a:srgbClr val="0C2A1A"/>
          </a:solidFill>
          <a:ln w="7620">
            <a:solidFill>
              <a:srgbClr val="2ECC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0" y="380390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 (CRI)  →  runc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120640" y="4206240"/>
            <a:ext cx="749808" cy="329184"/>
          </a:xfrm>
          <a:prstGeom prst="rect">
            <a:avLst/>
          </a:prstGeom>
          <a:solidFill>
            <a:srgbClr val="1A2D4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420624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961888" y="4206240"/>
            <a:ext cx="749808" cy="329184"/>
          </a:xfrm>
          <a:prstGeom prst="rect">
            <a:avLst/>
          </a:prstGeom>
          <a:solidFill>
            <a:srgbClr val="1A2D4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61888" y="420624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803136" y="4206240"/>
            <a:ext cx="749808" cy="329184"/>
          </a:xfrm>
          <a:prstGeom prst="rect">
            <a:avLst/>
          </a:prstGeom>
          <a:solidFill>
            <a:srgbClr val="1A2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03136" y="420624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Декларативная модель и Reconciliation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работает по принципу: Desired State → Observe → Diff → Act (Reconciliation).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описываете ЧТО хотите (YAML manifest) — Kubernetes решает КАК это достичь.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Manager запускает десятки контроллеров, каждый следит за своим типом ресурса.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Deployment controller → создаёт ReplicaSet → тот создаёт Pods → kubelet запускает.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хранит desired state. kubelet сообщает actual state. Controller устраняет diff.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Self-healing: если под умирает — ReplicaSet создаёт новый. Нода отвалилась — поды перезапускаются.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mechanism: все компоненты подписаны на изменения через API Server (long polling / gRPC).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Схема: kubectl apply → Pod Running (Reconciliation Loop)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36576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749808"/>
            <a:ext cx="7132320" cy="621792"/>
          </a:xfrm>
          <a:prstGeom prst="rect">
            <a:avLst/>
          </a:prstGeom>
          <a:solidFill>
            <a:srgbClr val="0D4A6E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749808"/>
            <a:ext cx="402336" cy="6217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749808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795528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apply -f deployment.yaml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81328" y="1069848"/>
            <a:ext cx="6565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 аутентифицируется, отправляет манифест → kube-apiserver (порт 6443)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408176"/>
            <a:ext cx="0" cy="164592"/>
          </a:xfrm>
          <a:prstGeom prst="line">
            <a:avLst/>
          </a:prstGeom>
          <a:noFill/>
          <a:ln w="19050">
            <a:solidFill>
              <a:srgbClr val="6B8FAD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005840" y="1591056"/>
            <a:ext cx="7132320" cy="621792"/>
          </a:xfrm>
          <a:prstGeom prst="rect">
            <a:avLst/>
          </a:prstGeom>
          <a:solidFill>
            <a:srgbClr val="0A3530"/>
          </a:solidFill>
          <a:ln w="1524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1591056"/>
            <a:ext cx="402336" cy="62179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591056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81328" y="1636776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kube-apiserver  →  Validation + Auth + etcd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81328" y="1911096"/>
            <a:ext cx="6565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 → RBAC/Auth → Admission Webhooks → persist desired state в etcd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2249424"/>
            <a:ext cx="0" cy="164592"/>
          </a:xfrm>
          <a:prstGeom prst="line">
            <a:avLst/>
          </a:prstGeom>
          <a:noFill/>
          <a:ln w="19050">
            <a:solidFill>
              <a:srgbClr val="6B8FAD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005840" y="2432304"/>
            <a:ext cx="7132320" cy="621792"/>
          </a:xfrm>
          <a:prstGeom prst="rect">
            <a:avLst/>
          </a:prstGeom>
          <a:solidFill>
            <a:srgbClr val="2A1A4A"/>
          </a:solidFill>
          <a:ln w="1524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2432304"/>
            <a:ext cx="402336" cy="62179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432304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81328" y="2478024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controller-manager обнаруживает разницу (Diff)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481328" y="2752344"/>
            <a:ext cx="6565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controller: desired=3 pods, actual=0 → создаёт Pod spec → отправляет в API Server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3090672"/>
            <a:ext cx="0" cy="164592"/>
          </a:xfrm>
          <a:prstGeom prst="line">
            <a:avLst/>
          </a:prstGeom>
          <a:noFill/>
          <a:ln w="19050">
            <a:solidFill>
              <a:srgbClr val="6B8FAD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005840" y="3273552"/>
            <a:ext cx="7132320" cy="621792"/>
          </a:xfrm>
          <a:prstGeom prst="rect">
            <a:avLst/>
          </a:prstGeom>
          <a:solidFill>
            <a:srgbClr val="3A2A0A"/>
          </a:solidFill>
          <a:ln w="15240">
            <a:solidFill>
              <a:srgbClr val="F39C1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5840" y="3273552"/>
            <a:ext cx="402336" cy="6217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273552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81328" y="3319272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kube-scheduler  →  выбирает ноду для каждого Pod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481328" y="3593592"/>
            <a:ext cx="6565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(taint/affinity/resources) → Scoring → Binding: Pod → Node2. Записывает в etcd.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931920"/>
            <a:ext cx="0" cy="164592"/>
          </a:xfrm>
          <a:prstGeom prst="line">
            <a:avLst/>
          </a:prstGeom>
          <a:noFill/>
          <a:ln w="19050">
            <a:solidFill>
              <a:srgbClr val="6B8FAD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005840" y="4114800"/>
            <a:ext cx="7132320" cy="621792"/>
          </a:xfrm>
          <a:prstGeom prst="rect">
            <a:avLst/>
          </a:prstGeom>
          <a:solidFill>
            <a:srgbClr val="0A3020"/>
          </a:solidFill>
          <a:ln w="15240">
            <a:solidFill>
              <a:srgbClr val="2ECC7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5840" y="4114800"/>
            <a:ext cx="402336" cy="62179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114800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81328" y="4160520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(Node2)  →  containerd  →  runc  →  Pod: Running ✓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481328" y="4434840"/>
            <a:ext cx="6565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замечает unbound Pod → вызывает CRI → containerd тянет образ → runc create → status: Running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440" y="1591056"/>
            <a:ext cx="777240" cy="621792"/>
          </a:xfrm>
          <a:prstGeom prst="rect">
            <a:avLst/>
          </a:prstGeom>
          <a:solidFill>
            <a:srgbClr val="0A3530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" y="1591056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8680" y="1901952"/>
            <a:ext cx="13716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  <a:headEnd type="arrow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91440" y="3273552"/>
            <a:ext cx="777240" cy="1463040"/>
          </a:xfrm>
          <a:prstGeom prst="rect">
            <a:avLst/>
          </a:prstGeom>
          <a:solidFill>
            <a:srgbClr val="3A2A0A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" y="3273552"/>
            <a:ext cx="777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Основные объекты Kubernetes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Объект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Назначение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Ключевая особенность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Минимальная единица деплоя (1+ контейнер)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Общий IP, volumes, lifecycle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Stateless-приложения с rolling update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ReplicaSet management, rollback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Stateful-приложения (БД, кэш)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Стабильные имена, ordered scaling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DaemonSet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pod на каждой ноде (агенты, логи)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Автоматически на новых нодах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Абстракция доступа к подам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ClusterIP, NodePort, LoadBalancer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HTTP/HTTPS маршрутизация извне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Host/path routing, TLS termination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ConfigMap/Secret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Конфигурация и секреты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 vars, mounted files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PV/PVC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Персистентное хранилище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Абстракция от провайдера 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etcd — мозг кластера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Распределённый key-value store (алгоритм Raft для консенсуса).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 ВСЁ состояние кластера: поды, сервисы, конфиги, секреты, RBAC.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API Server общается с etcd напрямую. Все остальные — через API.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Кворум: для записи нужно N/2+1 нод. Рекомендация: 3 или 5 инстансов etcd.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Производительность: latency &lt; 10ms для p99. SSD обязателен в production.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критичен! etcdctl snapshot save + хранить вне кластера.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Дефрагментация: после частых удалений размер БД растёт. etcdctl defrag.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03. Best Practices Kubernetes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Организация кластера, безопасность, мониторинг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Организация кластера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Namespaces: разделяйте среды (dev/staging/prod) или команды. ResourceQuota на namespace.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и annotations: стандартизируйте (app, version, team, env). Используйте для селекторов.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requests/limits: ВСЕГДА задавайте. Без limits — pod может съесть всю ноду.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LimitRange на namespace: дефолтные limits для забывчивых разработчиков.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PodDisruptionBudget: гарантия доступности при обновлении нод (minAvailable: 1).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spread constraints: распределение подов по зонам/нодам для HA.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affinity/anti-affinity: контроль размещения (GPU-ноды, выделенные ноды для БД).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Безопасность кластера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RBAC: минимальные привилегии. Никогда cluster-admin для приложений.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Security Standards: Restricted (запрет root, capabilities). Включите на namespace.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Policies: по умолчанию deny all, открывать только нужные порты и направления.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Secrets: шифруйте at rest (EncryptionConfiguration). Используйте External Secrets Operator.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security: только подписанные образы. Cosign + OPA/Kyverno для admission.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 (Istio/Linkerd): mTLS между сервисами, zero-trust networking.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logs: включите аудит API Server. Кто, когда, что делал.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Регулярно обновляйте: CVE в Kubernetes публикуются часто.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Мониторинг и логирование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Grafana: стандартный стек. kube-state-metrics для объектов K8s.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Exporter (DaemonSet): метрики CPU, RAM, disk, network каждой ноды.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Alertmanager: алерты по SLO/SLI. Не алертите на симптомы — алертите на impact.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 / EFK / ELK: агрегация логов. Fluentd/Fluent Bit (DaemonSet) → центральное хранилище.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Jaeger / Tempo: distributed tracing для микросервисов (OpenTelemetry).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Важные метрики: pod restarts, OOMKilled, pending pods, node NotReady, etcd latency.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top pods/nodes: встроенный мониторинг (нужен metrics-server).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04. Вопросы на собеседованиях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спрашивают и как отвечать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и концепции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контейнер отличается от VM? → Ответ: shared kernel, namespaces+cgroups vs hypervisor.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произойдёт, если API Server упадёт? → Поды продолжат работать. Нельзя деплоить/управлять.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Kubernetes обеспечивает self-healing? → Reconciliation loop: desired vs actual state.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Deployment vs StatefulSet? → Стабильная идентичность, ordered ops, PVC per pod.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под получает IP? → CNI плагин назначает из pod CIDR. Flat network — все поды видят друг друга.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kube-proxy? → Создаёт iptables/IPVS правила для Service → Pod маршрутизации.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DNS в K8s? → CoreDNS: service.namespace.svc.cluster.local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Практические вопросы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в CrashLoopBackOff — ваши действия? → kubectl logs, kubectl describe, проверить image/cmd.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обновить приложение без downtime? → Rolling update (strategy), PDB, readiness probes.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Нода NotReady — как диагностировать? → kubectl describe node, проверить kubelet, disk/memory.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хранить секреты безопасно? → Sealed Secrets / External Secrets + шифрование etcd at rest.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ограничить сетевой доступ между подами? → NetworkPolicy (Calico/Cilium).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migration БД? → Blue-green с StatefulSet, logical replication, version-compatible.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масштабировать автоматически? → HPA (CPU/memory/custom), VPA, Cluster Autoscaler.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05. Реальные проблемы в production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опыта эксплуатации K8s кластеров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Проблемы, с которыми сталкивается каждый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OOMKilled: контейнер использует больше RAM, чем limit → убивается. Решение: правильные limits + мониторинг.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ImagePullBackOff: невалидный image tag, нет доступа к registry → проверить imagePullSecrets.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Pods: нет ноды с нужными ресурсами → kubectl describe pod → проверить requests vs available.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CrashLoopBackOff: приложение падает сразу после старта → logs, probe настройки, env переменные.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resolution delay: CoreDNS перегружен → увеличить реплики, NodeLocal DNS Cache.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slow: диск медленный → SSD, мониторинг wal_fsync_duration, defrag.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expiry: kubeadm-сертификаты истекают через год → kubeadm certs renew.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Сложные production-кейсы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Split-brain etcd: сетевой partition → потеря кворума → кластер read-only. Решение: 3+ ноды в разных rack.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shutdown: SIGTERM не обрабатывается → 502 при деплое. Решение: preStop hook + terminationGracePeriod.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stuck in Terminating: finalizer не отпускает → kubectl patch -p '{"metadata":{"finalizers":null}}'.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drain зависает: PDB не даёт эвакуировать → проверить minAvailable vs replicas.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fragmentation: ноды заняты на 60%, но новые поды Pending → Descheduler, right-sizing.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504 timeout: upstream app медленный → увеличить proxy-read-timeout в annotations.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rotation without restart: mount secrets as volumes, use reloader или Stakater Reloader.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06. Безопасность контейнеров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уязвимости и методы защиты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Векторы атак на контейнеры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socket escape: /var/run/docker.sock внутри контейнера = root на хосте.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container: --privileged отключает ВСЕ ограничения → mount диска хоста.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abuse: CAP_SYS_ADMIN ~ root. cgroup escape через notify_on_release.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PID namespace: --pid=host → доступ к /proc/1/root хоста.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variable secrets leak: docker inspect / /proc/PID/environ раскрывают все секреты.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images: typosquatting (ngix, pytohn) + скрытые слои с backdoor.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exploits: shared kernel = один CVE в ядре = escape из ЛЮБОГО контейнера.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Hardened Container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108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--read-only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--no-new-privileges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--cap-drop ALL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--cap-add NET_BIND_SERVICE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--security-opt seccomp=default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--user 1000:1000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--memory 512m --cpus 0.5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--tmpfs /tmp:rw,noexec,size=64m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your-image:sha256@digest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FS | drop ALL caps | non-root | resource limits | pin by digest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Сканирование: trivy image / grype / docker scout cves / hadolint Dockerfile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Инструменты безопасности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/ Grype: сканирование образов на CVE. Встраивайте в CI/CD pipeline.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Falco: runtime-детектирование аномалий (syscall monitoring). Алерты на shell in container.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OPA/Gatekeeper / Kyverno: policy enforcement. Запрет privileged, обязательные labels.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Bench Security: аудит конфигурации Docker по CIS Benchmark.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Hadolint: линтер Dockerfile. Проверяет best practices при сборке.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cosign: подпись образов. Keyless signing через Fulcio + Rekor.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Security Admission: встроенный в K8s (enforce/audit/warn) — Baseline / Restricted.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07. Сертификаты, PKI и шифрование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X.509, OpenSSL и сетевая безопасность Kubernetes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Основы криптографии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Симметричное шифрование (AES-256-GCM): один ключ для шифрования и расшифровки. Быстро — используется для данных.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Асимметричное шифрование (RSA, ECDSA): пара ключей — публичный и приватный. Медленно — для обмена ключами и подписей.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ECDH (Elliptic Curve Diffie-Hellman): стороны согласуют общий секрет через открытый канал. Основа PFS.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Хэш-функции (SHA-256, SHA-384): одностороннее преобразование. Проверка целостности и цифровые подписи.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подпись: хэш(данные) + encrypt(privateKey). Доказывает авторство без передачи секрета.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Forward Secrecy (PFS): каждая сессия имеет временный ключ. Компрометация долгосрочного ключа не раскрывает прошлые данные.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 использует только ECDH для обмена ключами — RSA key exchange полностью убран.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Алгоритмы шифрования: сравнение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Алгоритм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Длина ключа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Применение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AES-256-GCM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Симметричный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 бит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Шифрование данных в TLS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RSA-2048/4096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Асимметричный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2048-4096 бит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Сертификаты, подписи (legacy)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ECDSA P-256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Асимметричный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 бит (= RSA 3072)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Сертификаты Kubernetes (быстрее RSA)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C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ECDH X25519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Обмен ключами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 бит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1.3 key exchange, PFS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SHA-256/384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Хэш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256/384 бит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Подписи сертификатов, HMAC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ChaCha20-Poly1305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Симметричный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 бит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1.3 на мобильных (без AES-NI)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PKI — Инфраструктура открытых ключей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PKI (Public Key Infrastructure): иерархия сертификатов для проверки подлинности.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 → Intermediate CA → End-Entity Certificate: цепочка доверия. Root хранится offline.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подписывает сертификат своим приватным ключом. Все знают публичный ключ CA.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(Certificate Signing Request): запрос на выпуск. Содержит публичный ключ и атрибуты.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(Subject Alternative Names): список доменов/IP в сертификате. CN устарел (RFC 2818).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 сертификата: CRL (Certificate Revocation List) или OCSP. В K8s — не используется, просто ротируют.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(Let's Encrypt): автоматический выпуск сертификатов. cert-manager в K8s реализует ACME.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Kubernetes каждый компонент имеет свой сертификат. kubeadm создаёт полную PKI в /etc/kubernetes/pki/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TLS 1.3 Handshake — как устанавливается защищённое соединение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3716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77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777240"/>
            <a:ext cx="13716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7772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34440" y="1124712"/>
            <a:ext cx="0" cy="3447288"/>
          </a:xfrm>
          <a:prstGeom prst="line">
            <a:avLst/>
          </a:prstGeom>
          <a:noFill/>
          <a:ln w="12700">
            <a:solidFill>
              <a:srgbClr val="6B8FA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818120" y="1124712"/>
            <a:ext cx="0" cy="3447288"/>
          </a:xfrm>
          <a:prstGeom prst="line">
            <a:avLst/>
          </a:prstGeom>
          <a:noFill/>
          <a:ln w="12700">
            <a:solidFill>
              <a:srgbClr val="6B8FA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234440" y="1417320"/>
            <a:ext cx="65836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headEnd type="none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2468880" y="12161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ClientHello (TLS 1.3, supported ciphers, key_share)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34440" y="1874520"/>
            <a:ext cx="658368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2468880" y="16733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ServerHello (cipher selected, key_share)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234440" y="2240280"/>
            <a:ext cx="6583680" cy="0"/>
          </a:xfrm>
          <a:prstGeom prst="line">
            <a:avLst/>
          </a:prstGeom>
          <a:noFill/>
          <a:ln w="19050">
            <a:solidFill>
              <a:srgbClr val="48CAE4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2468880" y="20391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+ CertificateVerify + Finished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34440" y="2697480"/>
            <a:ext cx="6583680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  <a:headEnd type="none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2468880" y="24963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 ◀── 1 RTT!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34440" y="3154680"/>
            <a:ext cx="6583680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2468880" y="29535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(encrypted with shared secret)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8412480" cy="658368"/>
          </a:xfrm>
          <a:prstGeom prst="rect">
            <a:avLst/>
          </a:prstGeom>
          <a:solidFill>
            <a:srgbClr val="0A2A18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021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TLS 1.3 vs 1.2: </a:t>
            </a:r>
            <a:pPr indent="0" marL="0">
              <a:buNone/>
            </a:pPr>
            <a:r>
              <a:rPr lang="en-US" sz="1100" dirty="0">
                <a:solidFill>
                  <a:srgbClr val="B8D4E3"/>
                </a:solidFill>
              </a:rPr>
              <a:t>1 RTT (vs 2 RTT) | Убраны RSA key exchange, SHA-1, RC4 | Forward Secrecy обязателен | 0-RTT resumption для повторных подключений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X.509 Сертификат: структура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Версия X.509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 (текущий стандарт)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Serial Number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Уникальный номер у 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0x03:a5:b9:...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Кто подписал (CA)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CN=Kubernetes CA, O=system:masters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Кому выдан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CN=kube-apiserver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C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имена и IP (обязательно!)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DNS:kubernetes, IP:10.96.0.1, IP:192.168.1.10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Срок действия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NotBefore..NotAfter (K8s по умолчанию 1 год)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Usage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Для чего может использоваться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digitalSignature, keyEncipherment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Подпись 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SHA256withRSA / SHA256withECDSA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Форматы файлов сертификатов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Расширение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Формат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Содержимое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.pem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Base64 + заголовки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Сертификат: BEGIN CERTIFICATE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.crt / .cer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 или 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Публичный сертификат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Приватный ключ: BEGIN PRIVATE KEY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.csr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Запрос на подпись: BEGIN CERTIFICATE REQUEST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8C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.p12 / .pfx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 бинарный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Сертификат + приватный ключ (с паролем)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Бинарный 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Сертификат без Base64 кодирования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ca-bundle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 (несколько)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Цепочка CA сертификатов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PKI в Kubernetes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/etc/kubernetes/pki/ — корень PKI. ca.crt + ca.key: корневой CA кластера.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apiserver.crt: содержит SAN для всех IP и DNS имён API сервера.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apiserver-kubelet-client.crt: сертификат для подключения к kubelet (на ноде).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front-proxy-ca.crt: отдельный CA для aggregation layer (расширение API).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etcd/: отдельный CA для etcd кластера. /etc/kubernetes/pki/etcd/ca.crt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ServiceAccount: JWT токен подписывается sa.key, проверяется API сервером через sa.pub.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kubeadm certs renew all: обновить все сертификаты (по умолчанию 1 год). Проверить: kubeadm certs check-expiration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csr: CSR объекты в K8s для подписи сертификатов через API. Используется для kubelet bootstrap.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OpenSSL — шпаргалка команд</a:t>
            </a:r>
            <a:endParaRPr lang="en-US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Задача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Команда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C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Создать 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8D4E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openssl req -x509 -newkey rsa:4096 -nodes -keyout ca.key -out ca.crt -days 3650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C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Создать ключ + CSR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8D4E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openssl req -newkey rsa:2048 -nodes -keyout srv.key -out srv.csr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8C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Подписать CSR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8D4E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openssl x509 -req -in srv.csr -CA ca.crt -CAkey ca.key -CAcreateserial -out srv.crt -days 365 -extfile san.ext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Просмотр cert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8D4E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openssl x509 -in srv.crt -noout -text | grep -E 'Subject:|DNS:|IP:'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Проверить цепочку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8D4E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openssl verify -CAfile ca.crt srv.crt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Тест TLS сервера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8D4E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openssl s_client -connect webapp.local:443 -CAfile ca.crt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K8s Secret → cert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B8D4E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kubectl get secret tls-secret -o jsonpath='{.data.tls\.crt}' | base64 -d | openssl x509 -noout -text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Сетевая модель Kubernetes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каждый Pod получает уникальный IP. Все Pods могут общаться без NAT.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 (Container Network Interface): стандарт плагинов. Calico, Flannel, Cilium, Weave.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Service: абстракция над группой подов. ClusterIP → внутри, NodePort → снаружи, LB → облако.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kube-proxy: iptables/IPVS правила. IPVS масштабируется лучше для 10K+ сервисов.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Controller (nginx/traefik/envoy): L7 маршрутизация, TLS termination, rate limiting.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 (Istio): sidecar envoy proxy, mTLS, traffic management, observability.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NetworkPolicy: L3/L4 фаервол. Ingress/Egress rules по labels, namespaces, CIDR.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Типы Service в Kubernetes</a:t>
            </a:r>
            <a:endParaRPr lang="en-US" sz="2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Доступность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Использование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Только внутри кластера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Межсервисное общение (по умолчанию)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Извне через &lt;NodeIP&gt;:&lt;Port&gt;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Dev/тестирование (порты 30000-32767)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LoadBalancer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Внешний IP от облака/MetalLB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HTTP/TCP сервисы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CNAME на внешний DNS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Интеграция с внешними сервисами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Headless (None)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A-записи на каждый Pod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8D4E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StatefulSet peer discovery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Сертификация Kubernetes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286000" cy="3200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CKA (Certified Kubernetes Administrator) — администрирование кластера, troubleshooting.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CKAD (Certified Kubernetes Application Developer) — деплой и настройка приложений.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CKS (Certified Kubernetes Security Specialist) — безопасность кластера и workloads.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Формат: практический экзамен в терминале, 2 часа, 66% для сдачи.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Подготовка: killer.sh (симулятор), Kubernetes docs (открыты на экзамене).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CKA: etcd backup, RBAC, NetworkPolicy, troubleshoot node/pod, kubeadm upgrade.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путь: CKA → CKS → Istio Certified Associate → Platform Engineer.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08. Практика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будем строить — 7 пар hands-on заданий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4572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План практических занятий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530352"/>
          </a:xfrm>
          <a:prstGeom prst="rect">
            <a:avLst/>
          </a:prstGeom>
          <a:solidFill>
            <a:srgbClr val="1A2D4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713232"/>
            <a:ext cx="54864" cy="53035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1323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Пара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71323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изнутри: namespaces, cgroups, chroot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71323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PID/NET изоляция без Docker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16736"/>
            <a:ext cx="8595360" cy="53035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1316736"/>
            <a:ext cx="54864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31673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Пара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131673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 Dockerfile, многоэтапная сборка, слои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131673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Образ 800MB → 12MB (alpine)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8595360" cy="530352"/>
          </a:xfrm>
          <a:prstGeom prst="rect">
            <a:avLst/>
          </a:prstGeom>
          <a:solidFill>
            <a:srgbClr val="1A2D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1920240"/>
            <a:ext cx="54864" cy="5303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92024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Пара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192024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Compose: сети, volumes, healthcheck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19202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3-сервисный стек nginx+Flask+Postgres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8595360" cy="53035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2523744"/>
            <a:ext cx="54864" cy="5303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2374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Пара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252374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Kubernetes: первый кластер, поды, kubectl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5237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Под с sidecar, самовосстановление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127248"/>
            <a:ext cx="8595360" cy="530352"/>
          </a:xfrm>
          <a:prstGeom prst="rect">
            <a:avLst/>
          </a:prstGeom>
          <a:solidFill>
            <a:srgbClr val="1A2D4A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" y="3127248"/>
            <a:ext cx="54864" cy="5303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1272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Пара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12724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Deployment, Service, Ingress, rolling update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12724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Zero-downtime деплой, маршрутизация /api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30752"/>
            <a:ext cx="8595360" cy="530352"/>
          </a:xfrm>
          <a:prstGeom prst="rect">
            <a:avLst/>
          </a:prstGeom>
          <a:solidFill>
            <a:srgbClr val="122240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3730752"/>
            <a:ext cx="54864" cy="53035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73075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Пара 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373075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ConfigMap, Secret, PersistentVolumeClaim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373075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PostgreSQL с данными после pod deletion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334256"/>
            <a:ext cx="8595360" cy="530352"/>
          </a:xfrm>
          <a:prstGeom prst="rect">
            <a:avLst/>
          </a:prstGeom>
          <a:solidFill>
            <a:srgbClr val="1A2D4A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4334256"/>
            <a:ext cx="54864" cy="5303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33425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Пара 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88720" y="433425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RBAC, NetworkPolicy, TLS Сертификаты, Falco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0" y="433425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Изолированный кластер с mTLS Ingress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Финальная инфраструктура — результат 7 пар практики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8F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студент строит за 7 пар практики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8778240" cy="3520440"/>
          </a:xfrm>
          <a:prstGeom prst="roundRect">
            <a:avLst>
              <a:gd name="adj" fmla="val 2078"/>
            </a:avLst>
          </a:prstGeom>
          <a:solidFill>
            <a:srgbClr val="080E1A"/>
          </a:solidFill>
          <a:ln w="12700">
            <a:solidFill>
              <a:srgbClr val="6B8FAD"/>
            </a:solidFill>
            <a:prstDash val="sysDash"/>
          </a:ln>
        </p:spPr>
      </p:sp>
      <p:sp>
        <p:nvSpPr>
          <p:cNvPr id="6" name="Text 4"/>
          <p:cNvSpPr/>
          <p:nvPr/>
        </p:nvSpPr>
        <p:spPr>
          <a:xfrm>
            <a:off x="320040" y="11247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Host (Ubuntu)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0D1E30"/>
          </a:solidFill>
          <a:ln w="12700">
            <a:solidFill>
              <a:srgbClr val="1D63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26464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63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63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(Пары 1-3)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426464"/>
            <a:ext cx="6217920" cy="3017520"/>
          </a:xfrm>
          <a:prstGeom prst="roundRect">
            <a:avLst>
              <a:gd name="adj" fmla="val 1818"/>
            </a:avLst>
          </a:prstGeom>
          <a:solidFill>
            <a:srgbClr val="0D1E30"/>
          </a:solidFill>
          <a:ln w="1524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463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 Cluster  (Пары 4-7)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1828800"/>
            <a:ext cx="1417320" cy="502920"/>
          </a:xfrm>
          <a:prstGeom prst="rect">
            <a:avLst/>
          </a:prstGeom>
          <a:solidFill>
            <a:srgbClr val="1A2D4A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828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(ServiceAccount)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1417320" cy="502920"/>
          </a:xfrm>
          <a:prstGeom prst="rect">
            <a:avLst/>
          </a:prstGeom>
          <a:solidFill>
            <a:srgbClr val="1A2D4A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828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(Calico/Cilium)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52160" y="1828800"/>
            <a:ext cx="1417320" cy="502920"/>
          </a:xfrm>
          <a:prstGeom prst="rect">
            <a:avLst/>
          </a:prstGeom>
          <a:solidFill>
            <a:srgbClr val="1A2D4A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828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Secret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06640" y="1828800"/>
            <a:ext cx="1234440" cy="502920"/>
          </a:xfrm>
          <a:prstGeom prst="rect">
            <a:avLst/>
          </a:prstGeom>
          <a:solidFill>
            <a:srgbClr val="1A2D4A"/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828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(PostgreSQL)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0" y="2487168"/>
            <a:ext cx="1417320" cy="502920"/>
          </a:xfrm>
          <a:prstGeom prst="rect">
            <a:avLst/>
          </a:prstGeom>
          <a:solidFill>
            <a:srgbClr val="1A2D4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4871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(rolling update)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97680" y="2487168"/>
            <a:ext cx="1417320" cy="502920"/>
          </a:xfrm>
          <a:prstGeom prst="rect">
            <a:avLst/>
          </a:prstGeom>
          <a:solidFill>
            <a:srgbClr val="1A2D4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4871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(ClusterIP/NP)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852160" y="2487168"/>
            <a:ext cx="1417320" cy="502920"/>
          </a:xfrm>
          <a:prstGeom prst="rect">
            <a:avLst/>
          </a:prstGeom>
          <a:solidFill>
            <a:srgbClr val="1A2D4A"/>
          </a:solidFill>
          <a:ln w="10160">
            <a:solidFill>
              <a:srgbClr val="48CA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4871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(nginx + TLS)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06640" y="2487168"/>
            <a:ext cx="1234440" cy="502920"/>
          </a:xfrm>
          <a:prstGeom prst="rect">
            <a:avLst/>
          </a:prstGeom>
          <a:solidFill>
            <a:srgbClr val="1A2D4A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48716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Cert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(OpenSSL)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1828800"/>
            <a:ext cx="1920240" cy="475488"/>
          </a:xfrm>
          <a:prstGeom prst="rect">
            <a:avLst/>
          </a:prstGeom>
          <a:solidFill>
            <a:srgbClr val="1A2D4A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2395728"/>
            <a:ext cx="1920240" cy="475488"/>
          </a:xfrm>
          <a:prstGeom prst="rect">
            <a:avLst/>
          </a:prstGeom>
          <a:solidFill>
            <a:srgbClr val="1A2D4A"/>
          </a:solidFill>
          <a:ln w="1016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395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2962656"/>
            <a:ext cx="1920240" cy="475488"/>
          </a:xfrm>
          <a:prstGeom prst="rect">
            <a:avLst/>
          </a:prstGeom>
          <a:solidFill>
            <a:srgbClr val="1A2D4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96265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77440" y="2743200"/>
            <a:ext cx="201168" cy="0"/>
          </a:xfrm>
          <a:prstGeom prst="line">
            <a:avLst/>
          </a:prstGeom>
          <a:noFill/>
          <a:ln w="12700">
            <a:solidFill>
              <a:srgbClr val="6B8FAD"/>
            </a:solidFill>
            <a:prstDash val="dash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57200" y="4754880"/>
            <a:ext cx="228600" cy="228600"/>
          </a:xfrm>
          <a:prstGeom prst="rect">
            <a:avLst/>
          </a:prstGeom>
          <a:solidFill>
            <a:srgbClr val="1D63ED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(Пары 1-3)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651760" y="4754880"/>
            <a:ext cx="228600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2944368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(Пары 4-7)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4754880"/>
            <a:ext cx="228600" cy="22860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39" name="Text 37"/>
          <p:cNvSpPr/>
          <p:nvPr/>
        </p:nvSpPr>
        <p:spPr>
          <a:xfrm>
            <a:off x="5138928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+ NetworkPolicy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40880" y="4754880"/>
            <a:ext cx="228600" cy="2286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1" name="Text 39"/>
          <p:cNvSpPr/>
          <p:nvPr/>
        </p:nvSpPr>
        <p:spPr>
          <a:xfrm>
            <a:off x="7333488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+ OpenSSL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Вопросы?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D4E3"/>
                </a:solidFill>
              </a:rPr>
              <a:t>Репозиторий: </a:t>
            </a:r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github.com/SiriusK8s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D4E3"/>
                </a:solidFill>
              </a:rPr>
              <a:t>Практика: </a:t>
            </a:r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10 часов hands-on заданий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D4E3"/>
                </a:solidFill>
              </a:rPr>
              <a:t>Следующий шаг: </a:t>
            </a:r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Установка кластера kubeadm на ВМ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Контейнеризация и Kubernetes — Полный курс</dc:title>
  <dc:subject>PptxGenJS Presentation</dc:subject>
  <dc:creator>Rauf - Sirius K8s Course</dc:creator>
  <cp:lastModifiedBy>Rauf - Sirius K8s Course</cp:lastModifiedBy>
  <cp:revision>1</cp:revision>
  <dcterms:created xsi:type="dcterms:W3CDTF">2026-03-21T20:30:49Z</dcterms:created>
  <dcterms:modified xsi:type="dcterms:W3CDTF">2026-03-21T20:30:49Z</dcterms:modified>
</cp:coreProperties>
</file>